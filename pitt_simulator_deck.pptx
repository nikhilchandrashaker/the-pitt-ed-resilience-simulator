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The Pitt — ED Resilience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Synthetic simulation of surge, staffing loss and EHR downtime</a:t>
            </a:r>
          </a:p>
          <a:p>
            <a:pPr>
              <a:spcAft>
                <a:spcPts val="1000"/>
              </a:spcAft>
              <a:defRPr sz="2000"/>
            </a:pPr>
            <a:r>
              <a:t>• Simulation findings, not clinical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Problem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How do surges, call-outs and EHR outages change ED flow?</a:t>
            </a:r>
          </a:p>
          <a:p>
            <a:pPr>
              <a:spcAft>
                <a:spcPts val="1000"/>
              </a:spcAft>
              <a:defRPr sz="2000"/>
            </a:pPr>
            <a:r>
              <a:t>• Does adding staff reduce waits?</a:t>
            </a:r>
          </a:p>
          <a:p>
            <a:pPr>
              <a:spcAft>
                <a:spcPts val="1000"/>
              </a:spcAft>
              <a:defRPr sz="2000"/>
            </a:pPr>
            <a:r>
              <a:t>• Which resource is the bottleneck?</a:t>
            </a:r>
          </a:p>
          <a:p>
            <a:pPr>
              <a:spcAft>
                <a:spcPts val="1000"/>
              </a:spcAft>
              <a:defRPr sz="2000"/>
            </a:pPr>
            <a:r>
              <a:t>• How does downtime affect throughput?</a:t>
            </a:r>
          </a:p>
          <a:p>
            <a:pPr>
              <a:spcAft>
                <a:spcPts val="1000"/>
              </a:spcAft>
              <a:defRPr sz="2000"/>
            </a:pPr>
            <a:r>
              <a:t>• Which response combination balances waiting and resource use?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Minute-step model of a 12-hour shift; 21 arrivals/hr</a:t>
            </a:r>
          </a:p>
          <a:p>
            <a:pPr>
              <a:spcAft>
                <a:spcPts val="1000"/>
              </a:spcAft>
              <a:defRPr sz="2000"/>
            </a:pPr>
            <a:r>
              <a:t>• Priority queue → physician evaluation → treatment space</a:t>
            </a:r>
          </a:p>
          <a:p>
            <a:pPr>
              <a:spcAft>
                <a:spcPts val="1000"/>
              </a:spcAft>
              <a:defRPr sz="2000"/>
            </a:pPr>
            <a:r>
              <a:t>• Capacity = min(spaces, nurses × 3)</a:t>
            </a:r>
          </a:p>
          <a:p>
            <a:pPr>
              <a:spcAft>
                <a:spcPts val="1000"/>
              </a:spcAft>
              <a:defRPr sz="2000"/>
            </a:pPr>
            <a:r>
              <a:t>• Strategies: surge space, staff reallocation, acuity priority, downtime procedure</a:t>
            </a:r>
          </a:p>
          <a:p>
            <a:pPr>
              <a:spcAft>
                <a:spcPts val="1000"/>
              </a:spcAft>
              <a:defRPr sz="2000"/>
            </a:pPr>
            <a:r>
              <a:t>• 30 runs per scenario, 95% confidence intervals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Calibration to the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Tuned evaluation time and nurse ratio by grid search</a:t>
            </a:r>
          </a:p>
          <a:p>
            <a:pPr>
              <a:spcAft>
                <a:spcPts val="1000"/>
              </a:spcAft>
              <a:defRPr sz="2000"/>
            </a:pPr>
            <a:r>
              <a:t>• Baseline p90 wait: model 49 min vs data 53</a:t>
            </a:r>
          </a:p>
          <a:p>
            <a:pPr>
              <a:spcAft>
                <a:spcPts val="1000"/>
              </a:spcAft>
              <a:defRPr sz="2000"/>
            </a:pPr>
            <a:r>
              <a:t>• Baseline mean wait: model 17 min vs data 32 (under-shoots)</a:t>
            </a:r>
          </a:p>
          <a:p>
            <a:pPr>
              <a:spcAft>
                <a:spcPts val="1000"/>
              </a:spcAft>
              <a:defRPr sz="2000"/>
            </a:pPr>
            <a:r>
              <a:t>• Model waits are more skewed than the data's</a:t>
            </a:r>
          </a:p>
          <a:p>
            <a:pPr>
              <a:spcAft>
                <a:spcPts val="1000"/>
              </a:spcAft>
              <a:defRPr sz="2000"/>
            </a:pPr>
            <a:r>
              <a:t>• High-acuity waits shorter than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Scenario results (mean of 30 runs)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Mean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Treated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222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 call-outs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206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Call-outs + EHR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Surge +20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227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Surge + call-outs +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181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Combined + all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Mean wait by scenario</a:t>
            </a:r>
          </a:p>
        </p:txBody>
      </p:sp>
      <p:pic>
        <p:nvPicPr>
          <p:cNvPr id="3" name="Picture 2" descr="chart_w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144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Queue length over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Surge, call-outs and outage compound</a:t>
            </a:r>
          </a:p>
          <a:p>
            <a:pPr>
              <a:spcAft>
                <a:spcPts val="1000"/>
              </a:spcAft>
              <a:defRPr sz="2000"/>
            </a:pPr>
            <a:r>
              <a:t>• Peak queue ~18 normal vs ~75 combined</a:t>
            </a:r>
          </a:p>
        </p:txBody>
      </p:sp>
      <p:pic>
        <p:nvPicPr>
          <p:cNvPr id="4" name="Picture 3" descr="chart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94360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What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Staff reallocation: 108 → 81 min mean wait</a:t>
            </a:r>
          </a:p>
          <a:p>
            <a:pPr>
              <a:spcAft>
                <a:spcPts val="1000"/>
              </a:spcAft>
              <a:defRPr sz="2000"/>
            </a:pPr>
            <a:r>
              <a:t>• Downtime procedure: 108 → 96 min</a:t>
            </a:r>
          </a:p>
          <a:p>
            <a:pPr>
              <a:spcAft>
                <a:spcPts val="1000"/>
              </a:spcAft>
              <a:defRPr sz="2000"/>
            </a:pPr>
            <a:r>
              <a:t>• Surge capacity alone: no change (nurse-limited)</a:t>
            </a:r>
          </a:p>
          <a:p>
            <a:pPr>
              <a:spcAft>
                <a:spcPts val="1000"/>
              </a:spcAft>
              <a:defRPr sz="2000"/>
            </a:pPr>
            <a:r>
              <a:t>• All strategies: 108 → 70 min (~35% lower)</a:t>
            </a:r>
          </a:p>
          <a:p>
            <a:pPr>
              <a:spcAft>
                <a:spcPts val="1000"/>
              </a:spcAft>
              <a:defRPr sz="2000"/>
            </a:pPr>
            <a:r>
              <a:t>• ESI 1–2 waits stayed under 4 min with priority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Synthetic data; simplified logic; not clinically validated</a:t>
            </a:r>
          </a:p>
          <a:p>
            <a:pPr>
              <a:spcAft>
                <a:spcPts val="1000"/>
              </a:spcAft>
              <a:defRPr sz="2000"/>
            </a:pPr>
            <a:r>
              <a:t>• Nurse-bottleneck finding depends on 3 patients/nurse assumption</a:t>
            </a:r>
          </a:p>
          <a:p>
            <a:pPr>
              <a:spcAft>
                <a:spcPts val="1000"/>
              </a:spcAft>
              <a:defRPr sz="2000"/>
            </a:pPr>
            <a:r>
              <a:t>• Next: test earlier triggers and two-strategy combinations</a:t>
            </a:r>
          </a:p>
          <a:p>
            <a:pPr>
              <a:spcAft>
                <a:spcPts val="1000"/>
              </a:spcAft>
              <a:defRPr sz="2000"/>
            </a:pPr>
            <a:r>
              <a:t>• Next: replace assumptions with local data; run tabletop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